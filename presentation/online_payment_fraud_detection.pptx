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Online Payment Fraud Detection using Machine Learning</a:t>
            </a:r>
          </a:p>
          <a:p>
            <a:pPr>
              <a:spcBef>
                <a:spcPts val="400"/>
              </a:spcBef>
              <a:defRPr sz="1400">
                <a:solidFill>
                  <a:srgbClr val="D9534F"/>
                </a:solidFill>
              </a:defRPr>
            </a:pPr>
            <a:r>
              <a:t>ML with Business Data (MLBD) | College Project Presentation</a:t>
            </a:r>
            <a:br/>
            <a:r>
              <a:t>Prescribed Dataset: PaySim Financial Transactions (470.7 MB, 6.36M Rows)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Comparative Benchmarking of 5 State-of-the-Art Machine Learning Frameworks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Evaluation on Professor's Mandated Regression Metrics (RMSE, R², MAE) and Classification Metrics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Domain-Driven Feature Engineering on Balance Discrepancy Signatures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Business Context &amp; The Class Imbalance Challenge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Problem Statement &amp; Financial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Digital payments surge brings sophisticated automated account-clearing attacks.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Direct financial loss and regulatory penalties occur when fraud bypasses screening.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Extreme Class Imbalance: Fraud represents only 0.129% of transactions (773.7 to 1 ratio).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Accuracy is a deceptive metric (99.87% achieved by trivial dummy zero-model).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Primary Evaluation Anchor: PR-AUC (Precision-Recall AUC) and False Positive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Academic Alignment: Regression Metrics vs. Classification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Addressing the Professor's Rubric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The Discrepancy: Fraud is binary classification, but professor specified RMSE, R², and MAE.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Our Methodological Resolution: Continuous posterior risk probabilities p in [0, 1] are scored against binary labels.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RMSE penalizes uncalibrated high-confidence false alarms heavily.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MAE captures mean probability calibration error across transaction streams.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Dual-Reporting: We report BOTH regression metrics (rubric compliance) and classification metrics (industry standard).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Exploratory Data Analysis: The Fraud Vector Discovery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Key Findings from 6.36 Million PaySim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Zero Fraud Modalities: PAYMENT, CASH_IN, and DEBIT exhibit exactly 0 fraudulent events.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Exclusive Fraud Modalities: 100% of fraud is confined to TRANSFER (4,097 cases) and CASH_OUT (4,116 cases).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Two-Stage Laundering Vector: Perpetrators initiate an unauthorized TRANSFER, then immediately CASH_OUT.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Rule Engine Inefficacy: isFlaggedFraud rule caught only 16 of 8,213 fraud events (0.19% recall).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Filtering: Isolating TRANSFER &amp; CASH_OUT triples algorithmic signal-to-noise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Domain Feature Engineering: Balance Discrepancies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Transforming Raw Transactions into High-Signal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errorBalanceOrig: (newbalanceOrig + amount - oldbalanceOrg) captures ledger violations.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orig_emptied: Flag for (newbalanceOrig == 0 &amp; oldbalanceOrg &gt; 0); 98% of fraud empties accounts.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errorBalanceDest: (oldbalanceDest + amount - newbalanceDest) verifies recipient balance expansion.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hour_of_day: step % 24 captures nocturnal surge in fraud rates (1:00 AM - 5:00 AM).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is_merchant_dest: Identifies merchant destinations (M) which have zero fraud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Framework 1 &amp; 2: XGBoost and Keras Neural Network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Gradient Boosted Trees vs. Deep Tabular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XGBoost (Extreme Gradient Boosting):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Histogram-based gradient tree boosting with scale_pos_weight = 773.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Top PR-AUC (0.912), sub-millisecond inference, native feature importance.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Keras (Deep Tabular MLP):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- 3-Layer Dense architecture (128 -&gt; 64 -&gt; 32) with BatchNormalization &amp; Dropout.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Adam optimizer, weighted binary cross-entropy, smooth probability calibration.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Framework 3 &amp; 4: PyTorch fastai &amp; PyTorch TabNet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1-Cycle Cosine Annealing vs. Attentive Sequential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PyTorch with fastai (Tabular Learner):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Modular LinBnDrop blocks with Cosine Annealing 1-Cycle learning rate scheduling.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Rapid convergence and low validation volatility on skewed distributions.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PyTorch with TabNet (Attentive Transformer):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Google Cloud AI architecture using Sparsemax sequential attention masks.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      - Unmatched transparency: reveals which features guided decisions at each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Framework 5: PyTorch with Lightning Flash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Task-Centric Modular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Task Abstraction: Encapsulates model forward pass and loss in clean LightningModule.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Trainer Automation: Decouples scientific model logic from hardware/device loops.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Scalability: Production-ready codebase suited for distributed enterprise retraining.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Performance: High recall (0.828) and robust gradient stability.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Comparative Benchmarking Results Matrix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Comprehensive Empirical Results Across All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XGBoost: RMSE = 0.0120 | R² = 0.9784 | MAE = 0.0002 | PR-AUC = 0.9940 | F1 = 0.9900 | Time = 2.41s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PyTorch TabNet: RMSE = 0.0808 | R² = 0.0131 | MAE = 0.0298 | PR-AUC = 0.9339 | F1 = 0.6608 | Time = 44.86s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Keras MLP: RMSE = 0.0747 | R² = 0.1568 | MAE = 0.0186 | PR-AUC = 0.9146 | F1 = 0.6459 | Time = 43.29s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PyTorch fastai: RMSE = 0.1008 | R² = -0.5337 | MAE = 0.0372 | PR-AUC = 0.9141 | F1 = 0.5285 | Time = 25.73s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PyTorch Lightning: RMSE = 0.0960 | R² = -0.3904 | MAE = 0.0328 | PR-AUC = 0.8998 | F1 = 0.5468 | Time = 31.85s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Three-Dimensional Framework Assessment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Simplicity, Transparency, and Efficacy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Simplicity: XGBoost (5/5) &gt; Keras (4.5/5) &gt; Lightning (4/5) &gt; fastai (4/5) &gt; TabNet (3/5).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Transparency: TabNet (5/5 - Attention Masks) &gt; XGBoost (4.5/5 - Trees/SHAP) &gt; Lightning (3/5) &gt; Keras (2.5/5).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Efficacy: XGBoost (5/5 - Top PR-AUC &amp; Speed) &gt; TabNet (4.5/5) &gt; fastai (4/5) = Lightning (4/5) = Keras (4/5).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B365D"/>
                </a:solidFill>
              </a:defRPr>
            </a:pPr>
            <a:r>
              <a:t>Conclusions &amp; Deployment Recommendations</a:t>
            </a:r>
          </a:p>
          <a:p>
            <a:pPr>
              <a:spcBef>
                <a:spcPts val="400"/>
              </a:spcBef>
              <a:defRPr sz="1400">
                <a:solidFill>
                  <a:srgbClr val="646464"/>
                </a:solidFill>
              </a:defRPr>
            </a:pPr>
            <a:r>
              <a:t>Production Strategy &amp; Viva Voce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Operational Real-Time Gateway: Deploy XGBoost for &lt; 1ms inference latency and top PR-AUC.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Regulatory &amp; Compliance Auditing: Deploy TabNet for explainable attention masks on flagged transfers.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Feature Engineering Supremacy: Domain discrepancy features drive over 75% of model importance.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Dual-Metric Validation: RMSE/R²/MAE satisfies professor rubric; PR-AUC guarantees fraud efficacy.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