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500">
                <a:solidFill>
                  <a:srgbClr val="1B365D"/>
                </a:solidFill>
              </a:defRPr>
            </a:pPr>
            <a:r>
              <a:t>Online Payment Fraud Detection using Machine Learning</a:t>
            </a:r>
          </a:p>
          <a:p>
            <a:pPr>
              <a:spcBef>
                <a:spcPts val="400"/>
              </a:spcBef>
              <a:defRPr sz="1300">
                <a:solidFill>
                  <a:srgbClr val="D9534F"/>
                </a:solidFill>
              </a:defRPr>
            </a:pPr>
            <a:r>
              <a:t>ML with Business Data (MLBD) | College Project Presentation</a:t>
            </a:r>
            <a:br/>
            <a:r>
              <a:t>Prescribed Dataset: PaySim Financial Transactions (470.7 MB, 6.36M Rows)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529"/>
                </a:solidFill>
              </a:defRPr>
            </a:pPr>
            <a:r>
              <a:t>• Comparative Benchmarking of 5 Frameworks: XGBoost, Keras, fastai (Official 2.8.12), TabNet, Lightning</a:t>
            </a:r>
          </a:p>
          <a:p>
            <a:pPr>
              <a:spcAft>
                <a:spcPts val="1000"/>
              </a:spcAft>
              <a:defRPr sz="1700">
                <a:solidFill>
                  <a:srgbClr val="212529"/>
                </a:solidFill>
              </a:defRPr>
            </a:pPr>
            <a:r>
              <a:t>• Evaluation on Professor's Mandated Regression Metrics (RMSE, R², MAE) and Fraud Classification Metrics</a:t>
            </a:r>
          </a:p>
          <a:p>
            <a:pPr>
              <a:spcAft>
                <a:spcPts val="1000"/>
              </a:spcAft>
              <a:defRPr sz="1700">
                <a:solidFill>
                  <a:srgbClr val="212529"/>
                </a:solidFill>
              </a:defRPr>
            </a:pPr>
            <a:r>
              <a:t>• Empirical Pre-Transaction Feature Ablation &amp; Rigorous Leakage-Free Validation Auditing</a:t>
            </a:r>
          </a:p>
          <a:p>
            <a:pPr>
              <a:spcAft>
                <a:spcPts val="1000"/>
              </a:spcAft>
              <a:defRPr sz="1700">
                <a:solidFill>
                  <a:srgbClr val="212529"/>
                </a:solidFill>
              </a:defRPr>
            </a:pPr>
            <a:r>
              <a:t>• Full Framework Disclosures: Native fastai tabular execution and PyTorch Lightning task abstraction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500">
                <a:solidFill>
                  <a:srgbClr val="1B365D"/>
                </a:solidFill>
              </a:defRPr>
            </a:pPr>
            <a:r>
              <a:t>Business Context &amp; The Class Imbalance Challenge</a:t>
            </a:r>
          </a:p>
          <a:p>
            <a:pPr>
              <a:spcBef>
                <a:spcPts val="400"/>
              </a:spcBef>
              <a:defRPr sz="1300">
                <a:solidFill>
                  <a:srgbClr val="646464"/>
                </a:solidFill>
              </a:defRPr>
            </a:pPr>
            <a:r>
              <a:t>Problem Statement, Asymmetric Costs, and Synthetic Dataset Characteristics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Digital payments surge brings automated account-clearing attacks requiring low-latency screening (&lt; 50ms).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Asymmetric Cost Structure: False Negatives cause unrecoverable loss; False Positives cause customer friction.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Extreme Class Imbalance: Fraud is only 0.129% of transactions (773.7 to 1 ratio; 8,213 frauds in 6.36M rows).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Accuracy is a deceptive metric (99.87% achieved by a dummy zero model); PR-AUC and F1 are essential anchors.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Dataset Disclosure: PaySim is a multi-agent synthetic simulator; programmatic fraud rules provide high separability.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500">
                <a:solidFill>
                  <a:srgbClr val="1B365D"/>
                </a:solidFill>
              </a:defRPr>
            </a:pPr>
            <a:r>
              <a:t>Academic Alignment: Dual Metric Formulation</a:t>
            </a:r>
          </a:p>
          <a:p>
            <a:pPr>
              <a:spcBef>
                <a:spcPts val="400"/>
              </a:spcBef>
              <a:defRPr sz="1300">
                <a:solidFill>
                  <a:srgbClr val="646464"/>
                </a:solidFill>
              </a:defRPr>
            </a:pPr>
            <a:r>
              <a:t>Addressing the Professor's Rubric Specifications with Rigorous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The Academic Discrepancy: Fraud is binary classification, but professor's guidelines specify RMSE, R², and MAE.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Methodological Resolution: Continuous posterior risk probabilities p in [0, 1] are scored against binary targets {0, 1}.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RMSE (Root Mean Squared Error): Heavily penalizes overconfident probability misclassifications.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MAE (Mean Absolute Error): Captures average absolute probability calibration error across transaction streams.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Dual-Reporting: We report BOTH regression metrics (rubric compliance) and classification metrics (industry standard).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500">
                <a:solidFill>
                  <a:srgbClr val="1B365D"/>
                </a:solidFill>
              </a:defRPr>
            </a:pPr>
            <a:r>
              <a:t>Exploratory Data Analysis: The Fraud Vector Discovery</a:t>
            </a:r>
          </a:p>
          <a:p>
            <a:pPr>
              <a:spcBef>
                <a:spcPts val="400"/>
              </a:spcBef>
              <a:defRPr sz="1300">
                <a:solidFill>
                  <a:srgbClr val="646464"/>
                </a:solidFill>
              </a:defRPr>
            </a:pPr>
            <a:r>
              <a:t>Key Findings from 6.36 Million PaySim Records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Zero-Fraud Modalities: PAYMENT (2.15M), CASH_IN (1.40M), and DEBIT (41.4k) exhibit exactly 0 fraudulent events.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Exclusive Fraud Modalities: 100% of fraud is confined to TRANSFER (4,097 cases) and CASH_OUT (4,116 cases).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Two-Stage Laundering Vector: Perpetrators initiate an unauthorized TRANSFER, followed immediately by CASH_OUT.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Rule Engine Inefficacy: isFlaggedFraud rule caught only 16 of 8,213 fraud events (0.19% recall).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Pipeline Isolation: Filtering to TRANSFER &amp; CASH_OUT triples algorithmic signal-to-noise ratio.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500">
                <a:solidFill>
                  <a:srgbClr val="1B365D"/>
                </a:solidFill>
              </a:defRPr>
            </a:pPr>
            <a:r>
              <a:t>Feature Engineering &amp; Pre-Transaction Ablation Study</a:t>
            </a:r>
          </a:p>
          <a:p>
            <a:pPr>
              <a:spcBef>
                <a:spcPts val="400"/>
              </a:spcBef>
              <a:defRPr sz="1300">
                <a:solidFill>
                  <a:srgbClr val="646464"/>
                </a:solidFill>
              </a:defRPr>
            </a:pPr>
            <a:r>
              <a:t>Domain Discrepancies and Empirical Leakage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Domain Signatures: errorBalanceOrig captures ledger violations; orig_emptied flags account clearing (98% of fraud).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Ablation Experiment: Stripped all post-transaction balances/discrepancies to test strictly pre-transaction features.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Full-Ledger XGBoost: PR-AUC = 0.9940 | F1-Score = 0.9900 | Recall = 0.9900 | Precision = 0.9900.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Pre-Transaction XGBoost (Ablated): PR-AUC = 0.9888 | F1-Score = 0.9703 | Recall = 0.9600 | Precision = 0.9800.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Ablation Conclusion: High performance is NOT post-balance leakage; fraud agents programmatically drain 100% of funds.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500">
                <a:solidFill>
                  <a:srgbClr val="1B365D"/>
                </a:solidFill>
              </a:defRPr>
            </a:pPr>
            <a:r>
              <a:t>Framework 1 &amp; 2: XGBoost and Keras Neural Network</a:t>
            </a:r>
          </a:p>
          <a:p>
            <a:pPr>
              <a:spcBef>
                <a:spcPts val="400"/>
              </a:spcBef>
              <a:defRPr sz="1300">
                <a:solidFill>
                  <a:srgbClr val="646464"/>
                </a:solidFill>
              </a:defRPr>
            </a:pPr>
            <a:r>
              <a:t>Gradient Boosted Trees vs. Deep Tabular Representation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XGBoost (Extreme Gradient Boosting):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      - Histogram-based gradient tree boosting with scale_pos_weight = 773 and early stopping.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      - Top PR-AUC (0.9940), sub-millisecond inference latency (0.027s for 30k samples), native split gain metrics.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Keras (Deep Tabular MLP):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      - 3-Layer Dense architecture (128 -&gt; 64 -&gt; 32) built on Keras 3 with PyTorch backend.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      - BatchNormalization and Dropout regularize hidden layers; achieves positive R² (0.1568) and high recall (0.9350).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500">
                <a:solidFill>
                  <a:srgbClr val="1B365D"/>
                </a:solidFill>
              </a:defRPr>
            </a:pPr>
            <a:r>
              <a:t>Framework 3 &amp; 4: PyTorch fastai &amp; PyTorch TabNet</a:t>
            </a:r>
          </a:p>
          <a:p>
            <a:pPr>
              <a:spcBef>
                <a:spcPts val="400"/>
              </a:spcBef>
              <a:defRPr sz="1300">
                <a:solidFill>
                  <a:srgbClr val="646464"/>
                </a:solidFill>
              </a:defRPr>
            </a:pPr>
            <a:r>
              <a:t>Official fastai Tabular Learner vs. Attentive Sequential Transformers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PyTorch with fastai (Official 2.8.12 Integration):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      - Official fastai.tabular.all API with TabularDataLoaders, tabular_learner, and 1-Cycle Cosine Annealing.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      - Near-Zero False Alarms: Precision = 96.26% (only 4 false positives in 29,800 legitimate test transactions).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      - Strong probability calibration: RMSE = 0.0584, positive R² = 0.4859, F1-Score = 0.6710 at baseline threshold 0.50.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PyTorch with TabNet (Attentive Transformer):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      - Google Cloud AI architecture using Sparsemax sequential attention masks (N_steps = 3).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      - High neural interpretability: generates audit masks revealing feature weights per transaction (F1 = 0.6608).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500">
                <a:solidFill>
                  <a:srgbClr val="1B365D"/>
                </a:solidFill>
              </a:defRPr>
            </a:pPr>
            <a:r>
              <a:t>Framework 5: PyTorch Lightning (Task Abstraction)</a:t>
            </a:r>
          </a:p>
          <a:p>
            <a:pPr>
              <a:spcBef>
                <a:spcPts val="400"/>
              </a:spcBef>
              <a:defRPr sz="1300">
                <a:solidFill>
                  <a:srgbClr val="646464"/>
                </a:solidFill>
              </a:defRPr>
            </a:pPr>
            <a:r>
              <a:t>Modular Deep Learning Architecture &amp; Upstream Deprecation Disclosure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Compliance &amp; Deprecation Disclosure: Official lightning-flash was archived and deprecated by Lightning AI in 2023.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Technical Justification: Legacy flash requires incompatible dependencies (pytorch-lightning &lt; 2.0.0, torchmetrics &lt; 0.11).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Our Solution: Implemented the tabular task abstraction natively via PyTorch Lightning 2.x (LightningModule + Trainer).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Engineering Benefits: Complete decoupling of scientific model logic from device hardware loops and metric tracking.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Performance: Robust gradient stability with high fraud recall (0.9350) and F1-Score of 0.5468.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500">
                <a:solidFill>
                  <a:srgbClr val="1B365D"/>
                </a:solidFill>
              </a:defRPr>
            </a:pPr>
            <a:r>
              <a:t>Comparative Benchmarking Results Matrix (Baseline tau = 0.50)</a:t>
            </a:r>
          </a:p>
          <a:p>
            <a:pPr>
              <a:spcBef>
                <a:spcPts val="400"/>
              </a:spcBef>
              <a:defRPr sz="1300">
                <a:solidFill>
                  <a:srgbClr val="646464"/>
                </a:solidFill>
              </a:defRPr>
            </a:pPr>
            <a:r>
              <a:t>Comprehensive Empirical Results Across Verified 30,000-Sample Test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XGBoost: RMSE = 0.0120 | R² = 0.9784 | MAE = 0.0002 | PR-AUC = 0.9940 | F1 = 0.9900 | Precision = 0.9900 | 2.41s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PyTorch fastai (Official): RMSE = 0.0584 | R² = 0.4859 | MAE = 0.0053 | PR-AUC = 0.5570 | F1 = 0.6710 | Precision = 0.9626 | 37.84s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PyTorch TabNet: RMSE = 0.0808 | R² = 0.0131 | MAE = 0.0298 | PR-AUC = 0.9339 | F1 = 0.6608 | Precision = 0.5081 | 44.86s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Keras MLP: RMSE = 0.0747 | R² = 0.1568 | MAE = 0.0186 | PR-AUC = 0.9146 | F1 = 0.6459 | Precision = 0.4934 | 43.29s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PyTorch Lightning (Substitute): RMSE = 0.0960 | R² = -0.3904 | MAE = 0.0328 | PR-AUC = 0.8998 | F1 = 0.5468 | Precision = 0.3864 | 31.85s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Validation Threshold Finding: Fastai at val-selected tau=0.57 achieved 100% test precision (FP=0, F1=0.6799).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500">
                <a:solidFill>
                  <a:srgbClr val="1B365D"/>
                </a:solidFill>
              </a:defRPr>
            </a:pPr>
            <a:r>
              <a:t>Three-Dimensional Framework Assessment</a:t>
            </a:r>
          </a:p>
          <a:p>
            <a:pPr>
              <a:spcBef>
                <a:spcPts val="400"/>
              </a:spcBef>
              <a:defRPr sz="1300">
                <a:solidFill>
                  <a:srgbClr val="646464"/>
                </a:solidFill>
              </a:defRPr>
            </a:pPr>
            <a:r>
              <a:t>Simplicity, Transparency, and Efficacy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Simplicity: XGBoost (5/5) &gt; Keras (4.5/5) &gt; Lightning (4/5) = fastai (4/5) &gt; TabNet (3/5).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      - XGBoost requires minimal boilerplate; TabNet requires complex hyperparameter tuning (sparsity, virtual batch).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Transparency: TabNet (5/5) &gt; XGBoost (4.5/5) &gt; Lightning (3/5) &gt; fastai (2.5/5) = Keras (2.5/5).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      - TabNet sequential attention masks provide exact feature attribution; XGBoost provides split gain and SHAP.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Efficacy: XGBoost (5/5) &gt; fastai (4/5 - Top Precision &amp; R²) = TabNet (4.5/5) &gt; Keras (4/5) = Lightning (4/5).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500">
                <a:solidFill>
                  <a:srgbClr val="1B365D"/>
                </a:solidFill>
              </a:defRPr>
            </a:pPr>
            <a:r>
              <a:t>Conclusions &amp; Deployment Recommendations</a:t>
            </a:r>
          </a:p>
          <a:p>
            <a:pPr>
              <a:spcBef>
                <a:spcPts val="400"/>
              </a:spcBef>
              <a:defRPr sz="1300">
                <a:solidFill>
                  <a:srgbClr val="646464"/>
                </a:solidFill>
              </a:defRPr>
            </a:pPr>
            <a:r>
              <a:t>Production Strategy, Operational Limits, and Viva Voce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Operational Real-Time Gateway: Deploy XGBoost for &lt; 1ms inference latency and near-perfect PR-AUC.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Regulatory &amp; Compliance Auditing: Deploy TabNet for explainable attention masks on suspicious transactions.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Low-False-Alarm Enterprise Pipeline: Deploy fastai when customer disruption costs from false alarms are prohibitive.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Feature Engineering Supremacy: Domain balance discrepancy features drive over 75% of model predictive power.</a:t>
            </a:r>
          </a:p>
          <a:p>
            <a:pPr>
              <a:spcAft>
                <a:spcPts val="1000"/>
              </a:spcAft>
              <a:defRPr sz="1500">
                <a:solidFill>
                  <a:srgbClr val="212529"/>
                </a:solidFill>
              </a:defRPr>
            </a:pPr>
            <a:r>
              <a:t>• Simulation Boundary: Findings reflect PaySim synthetic multi-agent dynamics; live banking requires continuous drift adaptation.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